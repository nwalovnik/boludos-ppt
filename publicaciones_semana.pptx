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2377440"/>
            <a:ext cx="54864" cy="274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2286000"/>
            <a:ext cx="1082009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 i="0">
                <a:solidFill>
                  <a:srgbClr val="FFFFFF"/>
                </a:solidFill>
                <a:latin typeface="Encode Sans"/>
              </a:rPr>
              <a:t>PANORAMA MACRO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474720"/>
            <a:ext cx="10820095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 i="0">
                <a:solidFill>
                  <a:srgbClr val="FFFFFF"/>
                </a:solidFill>
                <a:latin typeface="Encode Sans"/>
              </a:rPr>
              <a:t>Publicaciones de la semana del 13 de julio de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4206240"/>
            <a:ext cx="108200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 i="1">
                <a:solidFill>
                  <a:srgbClr val="FFFFFF"/>
                </a:solidFill>
                <a:latin typeface="Encode Sans"/>
              </a:rPr>
              <a:t>11 publicaciones · datos oficiales INDEC / BCRA / Hacienda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INFLACIÓN JUNIO 2026: +1.9%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IPC nivel general aumentó +1.9% mensual en junio 2026, acumulando 33.55% interanual. INDEC publicó el indicador con la metodología vigente.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mensual: +1.9%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33.55%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Acumulado últimos 6 meses: 15.8% (suma simple)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+33.2%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+32.4%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+32.6%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+32.4%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INDUSTRIA MAYO 2026: IPI CRECIÓ +0.0% I.A.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Índice de Producción Industrial Manufacturero (IPI) registró una variación interanual de +0.0% en mayo 2026.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Variación interanual: +0.0%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Serie INDEC, base 2004=100. Mide la producción manufacturera (16 ramas).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Original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117,0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-5.7%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118,4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-2.5%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122,1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100,2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-8.9%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106,5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-3.8%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Diciembre 2025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112,0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-4.0%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FISCAL MAYO 2026: SUPERÁVIT PRIMARIO $1.924K M$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Hacienda (vía INDEC IMIG) · período 2026-05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Sector Público Nacional No Financiero registró un resultado primario de +1.924 mil millones de pesos en mayo 2026. El resultado financiero alcanzó +479K M$.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Resultado primario: +1.924 mil millones de pesos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Resultado financiero: +479 mil millones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Fuente: Secretaría de Hacienda, base caja (Metodología 2017)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Primario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Financiero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-696.843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-1.024.891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1.924.367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478.613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632.844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268.103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930.284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246.434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1.410.640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297.224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3.125.737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-166.961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Hacienda (vía INDEC IMIG)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FISCAL JUNIO 2026: DÉFICIT PRIMARIO $697K M$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Hacienda (vía INDEC IMIG) · período 2026-06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Sector Público Nacional No Financiero registró un resultado primario de -697 mil millones de pesos en junio 2026. El resultado financiero alcanzó -1.025K M$.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Resultado primario: -697 mil millones de pesos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Resultado financiero: -1.025 mil millones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Fuente: Secretaría de Hacienda, base caja (Metodología 2017)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Primario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Financiero M$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-696.843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-1.024.891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1.924.367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478.613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632.844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268.103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930.284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246.434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1.410.640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297.224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3.125.737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-166.961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Hacienda (vía INDEC IMIG)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IPIM MAYORISTA JUNIO 2026: +1.08%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IPIM mayorista registró un aumento de +1.08% mensual en junio 2026, acumulando 33.71%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+1.08%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33.71%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-0.8% pp (IPC +1.9%)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+1.08%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+2.51%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+5.16%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+3.38%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+27.9%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+0.98%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+25.6%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+1.67%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+26.4%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IPIB BÁSICOS ABRIL 2026: +4.76%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IPIB básicos registró un aumento de +4.76% mensual en abril 2026, acumulando 29.59%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+4.76%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29.59%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+2.2% pp (IPC +2.6%)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+1.15%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+3.00%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+0.67%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+25.1%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+1.56%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+26.6%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IPIB BÁSICOS MAYO 2026: +2.68%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IPIB básicos registró un aumento de +2.68% mensual en mayo 2026, acumulando 33.47%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+2.68%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33.47%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+0.5% pp (IPC +2.1%)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+1.15%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+3.00%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+0.67%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+25.1%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+1.56%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+26.6%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IPIB BÁSICOS JUNIO 2026: +1.15%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IPIB básicos registró un aumento de +1.15% mensual en junio 2026, acumulando 32.98%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+1.15%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32.98%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-0.7% pp (IPC +1.9%)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+1.15%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+33.5%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+29.6%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+3.00%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+0.67%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+25.1%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+1.56%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+26.6%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IPP PRODUCTOR ABRIL 2026: +4.79%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IPP productor registró un aumento de +4.79% mensual en abril 2026, acumulando 30.89%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+4.79%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30.89%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+2.2% pp (IPC +2.6%)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+1.06%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+2.95%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+0.69%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+26.0%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+1.58%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IPP PRODUCTOR MAYO 2026: +2.67%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IPP productor registró un aumento de +2.67% mensual en mayo 2026, acumulando 34.65%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+2.67%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34.65%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+0.5% pp (IPC +2.1%)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+1.06%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+2.95%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+0.69%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+26.0%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+1.58%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0B2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11480" y="457200"/>
            <a:ext cx="11368735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600" b="1" i="0">
                <a:solidFill>
                  <a:srgbClr val="00B2C9"/>
                </a:solidFill>
                <a:latin typeface="Encode Sans"/>
              </a:rPr>
              <a:t>IPP PRODUCTOR JUNIO 2026: +1.06%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128016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0" i="1">
                <a:solidFill>
                  <a:srgbClr val="6A6760"/>
                </a:solidFill>
                <a:latin typeface="Encode Sans"/>
              </a:rPr>
              <a:t>INDEC · período 2026-06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691640"/>
            <a:ext cx="548640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just"/>
            <a:r>
              <a:rPr sz="1300" b="0" i="0">
                <a:solidFill>
                  <a:srgbClr val="3F3F3F"/>
                </a:solidFill>
                <a:latin typeface="Encode Sans"/>
              </a:rPr>
              <a:t>El IPP productor registró un aumento de +1.06% mensual en junio 2026, acumulando 34.03% interanual. Suele anticipar el IPC minorista.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520440"/>
            <a:ext cx="548640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Nivel general: +1.06% mensual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Interanual: 34.03%</a:t>
            </a:r>
          </a:p>
          <a:p>
            <a:pPr algn="l">
              <a:spcAft>
                <a:spcPts val="800"/>
              </a:spcAft>
            </a:pPr>
            <a:r>
              <a:rPr sz="1300" b="1" i="0">
                <a:solidFill>
                  <a:srgbClr val="00B2C9"/>
                </a:solidFill>
                <a:latin typeface="Encode Sans"/>
              </a:rPr>
              <a:t>●  </a:t>
            </a:r>
            <a:r>
              <a:rPr sz="1300" b="0" i="0">
                <a:solidFill>
                  <a:srgbClr val="3F3F3F"/>
                </a:solidFill>
                <a:latin typeface="Encode Sans"/>
              </a:rPr>
              <a:t>Brecha vs IPC minorista: -0.8% pp (IPC +1.9%)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691640"/>
            <a:ext cx="5669280" cy="2560320"/>
          </a:xfrm>
          <a:prstGeom prst="rect">
            <a:avLst/>
          </a:prstGeom>
        </p:spPr>
      </p:pic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80760" y="4434840"/>
          <a:ext cx="5669280" cy="20482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Mes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VM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Encode Sans"/>
                        </a:rPr>
                        <a:t>VIA %</a:t>
                      </a:r>
                    </a:p>
                  </a:txBody>
                  <a:tcPr marL="36576" marR="36576" marT="18288" marB="18288">
                    <a:solidFill>
                      <a:srgbClr val="00B2C9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Junio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+1.06%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Mayo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+2.67%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+34.6%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Abril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+4.79%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+30.9%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Marzo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+2.95%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+28.1%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Febrero 2026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+0.69%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+26.0%</a:t>
                      </a:r>
                    </a:p>
                  </a:txBody>
                  <a:tcPr marL="36576" marR="36576" marT="18288" marB="18288"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Enero 2026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+1.58%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>
                          <a:solidFill>
                            <a:srgbClr val="3F3F3F"/>
                          </a:solidFill>
                          <a:latin typeface="Encode Sans"/>
                        </a:rPr>
                        <a:t>+27.7%</a:t>
                      </a:r>
                    </a:p>
                  </a:txBody>
                  <a:tcPr marL="36576" marR="36576" marT="18288" marB="18288">
                    <a:solidFill>
                      <a:srgbClr val="F8F8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11480" y="6492240"/>
            <a:ext cx="11368735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0" i="1">
                <a:solidFill>
                  <a:srgbClr val="6A6760"/>
                </a:solidFill>
                <a:latin typeface="Encode Sans"/>
              </a:rPr>
              <a:t>Fuente: elaboración propia en base a INDEC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