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1089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FFFFFF"/>
                </a:solidFill>
                <a:latin typeface="Encode Sans"/>
              </a:rPr>
              <a:t>Publicaciones de la semana del 18 de mayo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FFFFFF"/>
                </a:solidFill>
                <a:latin typeface="Encode Sans"/>
              </a:rPr>
              <a:t>7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11460175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0B2C9"/>
                </a:solidFill>
                <a:latin typeface="Encode Sans"/>
              </a:rPr>
              <a:t>INFLACIÓN MAYORISTA ABRIL DE 2026: +5.16%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i="1">
                <a:solidFill>
                  <a:srgbClr val="3F3F3F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194560"/>
            <a:ext cx="11460175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400">
                <a:solidFill>
                  <a:srgbClr val="3F3F3F"/>
                </a:solidFill>
                <a:latin typeface="Encode Sans"/>
              </a:rPr>
              <a:t>El IPIM (Índice de Precios Internos al por Mayor) registró un aumento de +5.16% mensual en abril de 2026, acumulando 30.83% interanual.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40"/>
            <a:ext cx="11460175" cy="3200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Nivel general IPIM: +5.16% mensual — INDEC.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Interanual: 30.83%.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El IPIM suele anticipar el IPC minorista: brechas positivas indican presión sobre góndolas en meses siguientes.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F3F3F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11460175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0B2C9"/>
                </a:solidFill>
                <a:latin typeface="Encode Sans"/>
              </a:rPr>
              <a:t>INFLACIÓN MAYORISTA ABRIL DE 2026: +4.76%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i="1">
                <a:solidFill>
                  <a:srgbClr val="3F3F3F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194560"/>
            <a:ext cx="11460175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400">
                <a:solidFill>
                  <a:srgbClr val="3F3F3F"/>
                </a:solidFill>
                <a:latin typeface="Encode Sans"/>
              </a:rPr>
              <a:t>El IPIM (Índice de Precios Internos al por Mayor) registró un aumento de +4.76% mensual en abril de 2026, acumulando 29.59% interanual.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40"/>
            <a:ext cx="11460175" cy="3200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Nivel general IPIM: +4.76% mensual — INDEC.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Interanual: 29.59%.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El IPIM suele anticipar el IPC minorista: brechas positivas indican presión sobre góndolas en meses siguientes.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F3F3F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11460175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0B2C9"/>
                </a:solidFill>
                <a:latin typeface="Encode Sans"/>
              </a:rPr>
              <a:t>INFLACIÓN MAYORISTA ABRIL DE 2026: +4.79%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i="1">
                <a:solidFill>
                  <a:srgbClr val="3F3F3F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194560"/>
            <a:ext cx="11460175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400">
                <a:solidFill>
                  <a:srgbClr val="3F3F3F"/>
                </a:solidFill>
                <a:latin typeface="Encode Sans"/>
              </a:rPr>
              <a:t>El IPIM (Índice de Precios Internos al por Mayor) registró un aumento de +4.79% mensual en abril de 2026, acumulando 30.89% interanual.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40"/>
            <a:ext cx="11460175" cy="3200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Nivel general IPIM: +4.79% mensual — INDEC.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Interanual: 30.89%.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El IPIM suele anticipar el IPC minorista: brechas positivas indican presión sobre góndolas en meses siguientes.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F3F3F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11460175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0B2C9"/>
                </a:solidFill>
                <a:latin typeface="Encode Sans"/>
              </a:rPr>
              <a:t>SALARIOS MARZO DE 2026: ÍNDICE TOTAL REGISTRADO 8.341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i="1">
                <a:solidFill>
                  <a:srgbClr val="3F3F3F"/>
                </a:solidFill>
                <a:latin typeface="Encode Sans"/>
              </a:rPr>
              <a:t>INDEC · período 2026-03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194560"/>
            <a:ext cx="11460175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400">
                <a:solidFill>
                  <a:srgbClr val="3F3F3F"/>
                </a:solidFill>
                <a:latin typeface="Encode Sans"/>
              </a:rPr>
              <a:t>El Índice de Salarios INDEC alcanzó un nivel total de 8.341 para el sector registrado en marzo de 2026. El privado registrado llegó a 8.935 y el público a 7.344.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40"/>
            <a:ext cx="11460175" cy="3200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Total registrado: 8.341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Privado registrado: 8.935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Sector público: 7.344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No registrado: 9.916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F3F3F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11460175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0B2C9"/>
                </a:solidFill>
                <a:latin typeface="Encode Sans"/>
              </a:rPr>
              <a:t>BALANZA COMERCIAL ABRIL DE 2026: SUPERÁVIT USD 2.711M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i="1">
                <a:solidFill>
                  <a:srgbClr val="3F3F3F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194560"/>
            <a:ext cx="11460175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400">
                <a:solidFill>
                  <a:srgbClr val="3F3F3F"/>
                </a:solidFill>
                <a:latin typeface="Encode Sans"/>
              </a:rPr>
              <a:t>El intercambio comercial argentino en abril de 2026 arrojó un superávit de USD 2.711 millones. Las exportaciones alcanzaron USD 8.914 millones y las importaciones USD 6.204 millones.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40"/>
            <a:ext cx="11460175" cy="3200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Exportaciones: USD 8.914 millones.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Importaciones: USD 6.204 millones.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Saldo comercial: USD +2.711 millones.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F3F3F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11460175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0B2C9"/>
                </a:solidFill>
                <a:latin typeface="Encode Sans"/>
              </a:rPr>
              <a:t>RESULTADO FISCAL ABRIL DE 2026: SUPERÁVIT PRIMARIO $633 MIL MILLONES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i="1">
                <a:solidFill>
                  <a:srgbClr val="3F3F3F"/>
                </a:solidFill>
                <a:latin typeface="Encode Sans"/>
              </a:rPr>
              <a:t>Hacienda (vía INDEC IMIG)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194560"/>
            <a:ext cx="11460175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400">
                <a:solidFill>
                  <a:srgbClr val="3F3F3F"/>
                </a:solidFill>
                <a:latin typeface="Encode Sans"/>
              </a:rPr>
              <a:t>El Sector Público Nacional No Financiero registró un resultado primario de +633 mil millones de pesos en abril de 2026. El resultado financiero (neto de intereses) alcanzó +268 mil millones.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40"/>
            <a:ext cx="11460175" cy="3200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Resultado primario: +633 mil millones de pesos.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Resultado financiero: +268 mil millones de pesos (neto de intereses).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Fuente: Secretaría de Hacienda, base caja (Metodología 2017).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F3F3F"/>
                </a:solidFill>
                <a:latin typeface="Encode Sans"/>
              </a:rPr>
              <a:t>Fuente: elaboración propia en base a Hacienda (vía INDEC IMIG)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11460175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0B2C9"/>
                </a:solidFill>
                <a:latin typeface="Encode Sans"/>
              </a:rPr>
              <a:t>EMAE MARZO DE 2026: ACTIVIDAD CRECIÓ +5.48%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i="1">
                <a:solidFill>
                  <a:srgbClr val="3F3F3F"/>
                </a:solidFill>
                <a:latin typeface="Encode Sans"/>
              </a:rPr>
              <a:t>INDEC · período 2026-03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194560"/>
            <a:ext cx="11460175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400">
                <a:solidFill>
                  <a:srgbClr val="3F3F3F"/>
                </a:solidFill>
                <a:latin typeface="Encode Sans"/>
              </a:rPr>
              <a:t>El Estimador Mensual de Actividad Económica (EMAE) registró una variación interanual de +5.48% en marzo de 2026. En la medición desestacionalizada, el indicador se movió +3.48% respecto al mes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40"/>
            <a:ext cx="11460175" cy="3200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Variación interanual: +5.48%.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Variación mensual desestacionalizada: +3.48%.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3F3F3F"/>
                </a:solidFill>
                <a:latin typeface="Encode Sans"/>
              </a:rPr>
              <a:t>●  Serie INDEC, base 2004=100. Mide el nivel general de actividad económica argentina.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F3F3F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